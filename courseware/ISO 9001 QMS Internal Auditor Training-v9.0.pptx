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410" r:id="rId161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20563-ISO-9001-Quality-Management-System-QMS-Internal-Auditor-Training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646920" y="658368"/>
            <a:ext cx="182880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46920" y="749808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ISO 9001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1170432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INTERNAL AUDITOR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ISO 9001 Quality Management System (QMS) Internal Auditor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TGS-2023039341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v9.0  ·  12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and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every required SSG digital-attendance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SSG QR code shown by the trainer or administrator.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Wait for the successful submission acknowledgement.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is required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this profile before class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course developer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Quality systems, business process improvement and applied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professional and technical programmes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Tertiary Infotech / Tertiary Courses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Name, organisation and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process whose quality matters to your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challenge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recurring compliance or performance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Your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successful learning looks like after two days.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 present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Return from breaks on time and complete attendance.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Ask, challenge and contribute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conversation at a time; disagree professionally.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Protect information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fictional or sanitised workplace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Stay practical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 every idea to a process or decision.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Own the result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your activity output before submission.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Two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· QMS foundations, ISO requirements and risk-based audit planning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9:00-10:30 · administration and foundations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10:40-13:00 · requirements and Activity 1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14:00-15:20 · Activity 2, methods and evidence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15:30-18:00 · Activities 3-4 and recap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· Evidence, findings, corrective action, change and audit follow-up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9:00-10:30 · findings and nonconformity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10:40-13:00 · Activities 5-6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14:00-15:20 · reporting, change and Activity 7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15:30-16:00 · Activity 8 and wrap-up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16:00-18:00 · WA then Case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AUDIT AND COMPLIANCE · ICT-SNA-3001-1.1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Conduct ISO 9001 internal audit activities using appropriate methodologies and tools to ensure organisational compliance.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 audit findings to identify process inefficiencies, non-compliance issues and areas for improvement.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Propose actionable improvement plans to mitigate identified risks and non-compliance issues.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Implement updated audit procedures following changes in internal compliance standards or external regulatory guidelines.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K1-K4 · A1-A4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K1: Methodologies and tools for the conduct of audit activities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K2: Interpretation and analysis of audit results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K3: Identification of non-compliance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K4: Internal and external compliance and regulatory guidelines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A1: Conduct audit activities in line with organisational compliance processes and guidelines using appropriate methodologies and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A2: Analyse audit results and highlight process gaps or key instances of non-compliance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A3: Propose improvements to compliance processes and measures that address major risks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A4: Implement changes in audit performance in alignment with internal standards or external regulatory guidelines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ASSESSMENT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Individual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discussion; answer in your own 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slides, Learner Guide and approved activity material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Place phones and other materials under the table; no recording.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provided document and upload to the LMS.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Competency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assessed K and A criterion must be Competent.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Re-assessment and appeal routes are available.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 open-ended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K1-K4 · 1 hour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One coherent scenario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A1-A4 · 1 hour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Competency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 in both instruments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At least 75%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Funding criteria 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SELF-CONTAINED ACTIVITY PACKS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Option A · Clone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the repository link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Copy the HTTPS clone URL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the activities folder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Option B · ZIP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GitHub · Code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Download ZIP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Extract and open activities/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Each folder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README.md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Working XLSX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Printable PDF/checklist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  <a:hlinkClick r:id="rId2"/>
              </a:rPr>
              <a:t>Open the ISO 9001 activity repository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Audit Activities and Compliance Methodologies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QMS foundations · ISO 9001:2015/Amd 1:2024 · ISO 19011:2026 · audit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01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QMS logic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Customer focus, process approach, PDCA and risk-based thinking work as one management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Requirements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clauses 4-10 as audit criteria; interpret them in the context of the organisation's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 methodology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Translate objectives, scope and criteria into a risk-based programme, plan and working documents.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Professional practice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integrity, independence, evidence-based judgement and due professional care.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Quality, conformity and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Degree to which inherent characteristics fulfil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Conformity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requirement is fulfilled; evidence must show the match.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Effectiveness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Planned activities are realised and intended results achieved.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Efficiency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Results are achieved with proportionate use of resources.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Quality, conformity and effectiveness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 both implementation and results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Follow requirements into real 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customer and process measures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Recognise effective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equate quality with premium grade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document alone is not effectiveness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good sample is not system proof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Cost cutting can damage conformity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control, assurance and the QMS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Quality 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Operational techniques detect whether outputs meet acceptance criteria.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Quality assurance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Planned controls provide confidence that requirements will be fulfilled.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QMS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Interrelated policies, processes, roles and resources direct and control quality.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Internal audit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assurance tests conformity and effectiveness across that 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Quality control, assurance and the QMS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from policy to process to output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preventive and detective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Evaluate interfaces between functions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system 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Inspection cannot replace process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quality team does not own all quality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Certification does not guarantee every output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 is not operational supervision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Seven quality management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Customer focus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Understand needs, fulfil requirements and monitor perception.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Leadership and people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Align direction, resources, competence and engagement.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Process and 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connected processes and make decisions from reliable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Improvement and relationships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Learn continually and manage relevant stakeholder relationships.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Seven quality management principles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principles to interpret system intent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Ask how leadership enables quality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Link measures to decisions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Look for learning across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Principles are not auditable clauses by themselves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fixed priority fits every organisation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Slogans do not prove deployment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Supplier accountability cannot be outsourced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 approach and system interactions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the result and the customer or interested party served.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Inputs and outputs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what enters, transforms and leaves the process.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Controls and resources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Clarify methods, competence, infrastructure, criteria and records.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Interfaces and measures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hand-offs, ownership, risks and performance indicators.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Process approach and system interactions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 in process sequence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end-to-end transactions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hand-off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 results with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Clause-by-clause interviews fragment the system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Department boundaries hide process gaps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 many measures obscure performance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Undefined ownership weakens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PDCA and risk-based thinking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objectives, processes, resources, risks and controls.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Operate processes under planned and controlled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Monitor, measure, analyse, audit and review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Correct, improve, standardise and update the system.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PDCA and risk-based thinking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risk to set audit priority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whether planned controls operated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 evidence with intended results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Follow learning into system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ISO 9001 does not mandate a formal risk register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 treatment should be proportionate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Audits are only one Check mechanism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Correction alone does not prevent recurrence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9000 family and current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ISO 9000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Fundamentals and vocabulary that support consistent interpretation.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ISO 9001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Requirements for a QMS; the certifiable standard in the family.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ISO 9004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Guidance for sustained organisational success beyond minimum conformity.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ISO 19011:2026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guidance on audit principles, programmes, conduct and competence.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9000 family and current status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 against applicable requirements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ISO 19011 as guidance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 contract/regulation versions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standards transitions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ISO 19011 is not a certification standard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audit against withdrawn editions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Draft standards are not requirements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Guidance does not override law or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9001:2015 and the 2024 climate amendment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Current edition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ISO 9001:2015 remains current on 12 August 2026.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Amendment 1:2024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Context consideration now explicitly includes climate-change relevance.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Interested parties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Relevant parties may have climate-related requirements.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2026 revision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next edition is under publication and expected in September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 9001:2015 and the 2024 climate amendment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relevance was considered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Follow relevant needs into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Monitor official publication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Plan a controlled gap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invent a mandatory climate programme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teach draft text as final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one-line statement may lack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Transition rules come from official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Clause structure: context to improvement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4-5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Context establishes the system; leadership directs and owns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Planning addresses risks, opportunities, objectives and changes.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7-8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Support enables controlled operation and product/service provision.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9-10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Evaluation creates evidence; improvement reacts, corrects and learns.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Clause structure: context to improvement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Follow the PDCA logic across clauses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requirements to processes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interaction, not isolated ownership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clause references precisely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Clauses 1-3 provide scope and terms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Not every requirement needs a procedure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Applicability needs justification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clause checklist is only a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Context, interested parties and QMS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Issues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internal and external matters relevant to QMS purpose and direction.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Interested parties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relevant parties and relevant requirements.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Climate relevance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Explicitly decide whether climate change is a relevant issue.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boundaries, applicability, products/services and justification.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Context, interested parties and QMS scope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evidence of monitoring and review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how needs become requirements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Visit physical and virtual boundaries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Challenge unsupported non-applicability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Long stakeholder lists may add no value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Scope must match actual operations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Outsourced work remains controlled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Marketing scope and certified scope may differ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Leadership, policy and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Accountability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Top management remains accountable for QMS effectiveness.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QMS requirements should operate through business processes.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Policy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Direction must suit purpose, support objectives and commit to improvement.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Responsibilities and authorities must be assigned and understood.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Leadership, policy and responsibilities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Seek evidence in decisions and resources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Interview process owners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policy into objectives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escalation authority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signed policy is not leadership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Management representative ownership can mask gaps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Conflicting targets undermine quality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Unclear deputies create control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Planning risks, objectives and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Risks and opportunities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Address factors that can affect intended QMS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Quality objectives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relevant, measurable objectives and monitor progress.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Action planning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what, resources, owner, timing and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Change planning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Protect QMS integrity by considering purpose, consequences, resources and roles.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Planning risks, objectives and change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risks into operational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objective data definitions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overdue actions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a recent planned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 registers without action are weak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Targets can drive unintended behaviour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Changing a form is not change management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Opportunities need prioritisation too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types, roles and independence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First party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Internal audit performed for the organisation's own assurance.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Second party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Customer or other interested-party audit of a provider.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Third party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certification or conformity-assessment audit.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Audit team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Leader, auditors and technical experts collectively provide competence.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types, roles and independence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Match competence to scope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auditing one's own 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Declare conflicts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experts without delegating judgement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Internal does not mean informal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Independence is more than reporting line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Technical expertise is not audit competence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Observers must not influence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principles and professional conduct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 ethically, honestly and responsibly.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Fair presentation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 truthfully, accurately and with unresolved views visible.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Due professional care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diligence and judgement proportionate to importance and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 and risk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Base conclusions on verifiable samples and focus effort where it matters.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principles and professional conduct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Protect confidentiality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Maintain independence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professional judgement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Escalate immediate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 evidence is sampled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Courtesy does not mean avoiding hard questions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Confidentiality applies to digital tools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 focus cannot omit required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the audit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what assurance and improvement value the programme should provide.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Risks and opportunities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Consider competence, access, technology, timing, confidentiality and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Implementation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methods, resources, roles, records and individual audits.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Monitoring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delivery and outcomes, then improve the programme.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Managing the audit programme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Prioritise changed and high-risk processes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Coordinate combined audits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recurring findings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programme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Annual repetition is not risk-based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Completion rate alone is not effectiveness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Under-resourced audits weaken assurance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Remote methods need their own risk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objectives, scope and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what the audit is intended to achieve.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boundaries, locations, functions, processes and time period.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the requirements used as the reference for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Feasibility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information, cooperation, time, competence and technology are adequate.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objectives, scope and criteria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Align with programme objectives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Name virtual locations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current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Resolve conflicts before fieldwork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Objectives are not an activity list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Scope creep threatens depth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Criteria can include internal requirements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Unfeasible audits should be escalated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planning and working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Translate objectives and scope into timing, people, methods and logistics.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Document 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Understand the system and identify issues before fieldwork.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Checklist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Prompt process-based enquiry while allowing the trail to evolve.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Sampling plan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representative and risk-focused evidence within constraints.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planning and working documents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Sequence around process flow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Plan opening and closing meetings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Protect information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Prepare contingency arrangements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checklist must not limit enquiry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Copying clauses creates yes/no auditing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Convenience samples bias conclusions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Plans should update when evidence changes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Introduction to Audit Activities and Compliance Methodologies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Risk-Based Internal Audit Programme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A1 · LO1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Translate a Process into an Audit Trail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A1 · LO1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procedure in LG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Workbook and PDF pack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Evidence-based acceptance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A1 · LO1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Risk-Based Internal Audit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act as the internal audit team for Meridian Precision Services and convert business context, interested-party needs and process risks into a defensible annual audit programme.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prioritised 12-month audit programme with objectives, scope, criteria, frequency, responsibilities and rationale.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Activity workbook · course reference pack · group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Risk-Based Internal Audit Programme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the MPS context, interested-party and risk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two or three audit programme objectives that describe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List the core and support processes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the processes to audit during the 12-month period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the proposed audit timing and frequency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Risk-Based Internal Audit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planned audit traces to an objective and documented risk rationale; team independence and competence are explicit; no high-risk changed process is omitted without justification.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A1 · LO1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Translate a Process into an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map MPS's order-to-delivery process and design a vertical and horizontal audit trail that follows risk, evidence and hand-offs instead of auditing clauses in isolation.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SIPOC-style process map, control/evidence matrix and traceable audit trail.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Process-map workbook · scenario PDF · evidence planning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Translate a Process into an Audit Trail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the process purpose, customer, boundaries and intended 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suppliers and inputs, including customer specifications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Map the major process stages from enquiry review through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 each stage, identify the responsible role, control, risk 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Mark the two interfaces most likely to allow an obsolete drawing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Translate a Process into an Audit Trail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map shows clear boundaries and interfaces, and each critical audit question identifies a criterion, evidence source and trace direction.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K1 · A1 · LO1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Introduction to Audit Activities and Compliance Methodologies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Customer focus, process approach, PDCA and risk-based thinking work as one management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 audit coverage that supports strategic priorities, compliance obligations and process risks.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the process approach to turn inputs, activities, controls, outputs and interfaces into a focused audit trail.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Analysis and Interpretation of Audit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Process trails · interviews · sampling · objective evidence · finding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02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Collect records, observations and interview information that can be verified.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Triangulation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Corroborate important conclusions through more than one evidence source.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evidence with criteria, evaluate process effectiveness and separate fact from inference.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traceable findings that identify the requirement, evidence and gap without prescribing a solution.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evidence and information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Records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Retained documented information, system data, transactions and logs.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Interviews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Information from people who perform, manage or receive the process.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Observation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Direct view of work, conditions, interfaces and control operation.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Patterns, reconciliations, trends and comparisons derived from reliable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evidence and information sources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Capture identifiers and dates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Corroborate material statements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contemporaneous notes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Preserve confidentiality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Interview statements alone may be weak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Screenshots can lack context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Copied records can be altered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Auditor notes must remain legible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Interviewing for reliable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Invite a process description: what happens when an order changes?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Probe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Clarify who, when, why, exception and decision logic.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Show 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Move from explanation to verifiable demonstration or record.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Restate understanding and resolve contradictions respectfully.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Interviewing for reliable evidence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Interview where work occurs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neutral wording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Listen for hand-offs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Close with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Leading questions bias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Why can sound accusatory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Rapid-fire questions damage rapport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promise a finding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Sampling and audit uncertainty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Population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the complete set from which evidence could be selected.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risk, representation, randomisation or judgement deliberately.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Record size, period, identifiers and rationale.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Limitation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what the sample supports and what remains uncertain.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Sampling and audit uncertainty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Include recent change and exceptions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across shifts or segments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Expand when contradictions arise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traceable sample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sample is not a census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Cherry-picking creates bias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Small samples need cautious language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exception may still reveal system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Triangulation and corroboration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Convergent 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Independent sources support the same conclusion.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Contradictory 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Sources disagree and require further examination.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Missing 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claimed control cannot be demonstrated or retained.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Alternative explanation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plausible interpretations before concluding.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Triangulation and corroboration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 record with actual practice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source-system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Reconcile dates and versions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Seek process-owner clarification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Agreement can still repeat one bad source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Absence of a record is not always nonconformity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Correlation does not prove cause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Confirmation bias narrows enquiry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Documented information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Maintain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Information needed to support operation, such as procedures and instructions.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 of results achieved, such as records and approvals.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Create/update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Ensure identification, format, review and approval are appropriate.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Manage access, distribution, storage, preservation, change and disposition.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Documented information and control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current and obsolete versions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external documents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access and retrieval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digital audit trails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ISO 9001 does not require a quality manual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More documents can create more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Cloud access needs confidentiality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Retention must meet obligations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processes: resources and competence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Provide persons needed for effective process and QMS operation.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Infrastructure/environment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Maintain facilities, technology and conditions needed for conformity.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Monitoring resources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Ensure equipment and methods are fit for valid results.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Competence/awareness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needs, act, evaluate effectiveness and retain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 processes: resources and competence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Observe workplace conditions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competence to assigned 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measurement status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knowledge continuity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Attendance is not competence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Calibration labels are not full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Tacit knowledge can be a single point of failure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Resource adequacy depends on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Operational planning and customer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Requirements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customer, implied, legal and organisational needs.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capability and resolve differences before commitment.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criteria, resources, controls and evidence for provision.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Update information and ensure relevant people know revised requirements.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Operational planning and customer requirements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one changed order end-to-end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commitment approvals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contingency controls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customer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Sales promises can become requirements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Implied use may matter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Emergency changes still need control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Verbal confirmation can be weak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and development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stages, responsibilities, interfaces, reviews and resources.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Ensure requirements are complete, unambiguous and adequate.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review, verification and validation for their distinct purposes.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Outputs/change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Meet inputs, enable provision and control later modifications.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and development controls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Select a design change sample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input to output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independent review where needed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change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is not verification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Validation focuses on intended use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Conflicting inputs need resolution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Software/configuration changes are design changes too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External-provider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Applicability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purchased products, outsourced processes and external provision.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Selection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defined criteria for evaluation and approval.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Monitoring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performance and risk to adjust ongoing control.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Ensure requirements are adequate before sending them.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External-provider controls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a critical supplier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 risk with control depth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re-evaluation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flowed-down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Outsourcing does not transfer accountability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Approved lists can become stale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Price alone is insufficient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Incoming inspection cannot fix every supplier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Production and service provision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Controlled conditions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suitable instructions, people, equipment, monitoring and environment.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Identification/traceability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outputs and preserve unique trace where required.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Property/preservation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Protect customer/provider property and output conformity.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Release/post-delivery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Authorise release and control relevant delivery, support and warranty duties.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Production and service provision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Observe actual 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status and authority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special-process validation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post-delivery feedback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Work instructions should fit competence and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Traceability is requirement-dependent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Customer data is property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Concession needs appropriate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Monitoring, analysis and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performance and conformity information that supports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How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valid methods, definitions, collection and analysis.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When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timing for collection, analysis and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Evaluate customer satisfaction, process results, providers and action effectiveness.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Monitoring, analysis and evaluation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Recalculate a sample KPI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data definitions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Segment customer information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Follow results into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Vanity metrics do not support decisions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Averages hide variation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Targets can be gamed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Late data limits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Internal audit requirement and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Planned intervals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Audit at times determined by importance, change and previous results.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Programme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frequency, methods, responsibilities, planning and reporting.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Objectivity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Select auditors and conduct audits impartially.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Report results and ensure correction/corrective action without undue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Internal audit requirement and programme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programme rationale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complete QMS coverage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Follow overdue findings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programme and result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Certification audits do not replace internal audits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Every process need not be annual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Auditor rotation alone does not ensure competence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 closure is not action effectiveness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Management review as system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changes, performance, audit, satisfaction, provider and action information.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Suitability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Does the QMS still fit the organisation's context and purpose?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Adequacy/effectiveness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Are arrangements sufficient and achieving intended results?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Outputs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Decide improvements, QMS changes and resource needs.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Management review as system evaluation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inputs to decisions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top-management participation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action follow-through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strategic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presentation deck alone may not show review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Data without evaluation is not enough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Minutes can hide decision ownership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frequency should fit change and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evidence to audit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requirement or reference against which evidence is evaluated.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Verifiable records, facts or other information relevant to criteria.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Finding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Evaluation result: conformity, nonconformity or other defined outcome.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Conclusion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Overall outcome after considering objectives and all findings.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evidence to audit conclusion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Calibrate team findings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Consider positive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State scope limitations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Answer each audit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Findings are not causes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Conclusions should not overgeneralise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Recommendations must not compromise independence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Disagreement should be recorded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Analysis and Interpretation of Audit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Design a Clause-to-Process Audit Checklist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 · K2 · A1 · A2 · LO1 · LO2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Conduct an Interview and Triangulate Evidence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K2 · A2 · LO2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procedure in LG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Workbook and PDF pack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Evidence-based acceptance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K1 · K2 · A1 · A2 · LO1 · LO2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Clause-to-Process Audit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build a checklist for the MPS purchasing and supplier-control process, linking requirements, process risks, questions, samples and expected evidence.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process-based audit checklist and sampling plan ready for field use.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Checklist workbook · printable checklist PDF · clause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Clause-to-Process Audit Checklist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supplier-control process and identify the intended 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the relevant requirement themes: approval criteria, selec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Convert each requirement theme into an open audit question linke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risk-focused follow-up question for each high-risk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expected evidence for each question using records, interv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Clause-to-Process Audit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checklist follows the process, covers the relevant requirement intent, uses open questions, includes a risk-based sample and provides space for objective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A2 · LO2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Conduct an Interview and Triangulate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conduct a role-play audit of document change control, capture verifiable evidence and decide what can and cannot be concluded from the sample.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interview plan, contemporaneous evidence notes and a triangulated evidence conclusion.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Role cards PDF · evidence log workbook · observer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Conduct an Interview and Triangulate Evidence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Assign the four roles and read only the role card for your assig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auditor prepares a short interview sequence: purpose, proces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interview by confirming purpose, time and confidentiali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Ask open questions, then probe with clarify, compare, show-me 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exact identifiers, dates and observations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Conduct an Interview and Triangulate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conclusion cites verifiable evidence from at least two sources, separates fact from inference and states any sampling limitation.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K2 · A2 · LO2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Analysis and Interpretation of Audit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Collect records, observations and interview information that can be verified.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a working document that supports process-based auditing without turning the audit into a compliance questionnaire.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Collect reliable audit evidence through professional questioning, observation, record review and corroboration.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Risk Mitigation and Improvement Measures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Nonconformity · containment · root cause · corrective action ·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03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Prevent unintended use or delivery of nonconforming outputs and deal with consequences.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Cause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Distinguish correction from corrective action and test causes against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Priority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consequence, likelihood and control effectiveness to prioritise improvement.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Effectiveness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actions removed the cause and reduced recurrence risk before closure.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Nonconforming outputs and immediate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Identify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Recognise and clearly mark nonconforming output or service status.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Prevent unintended use, release or delivery.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Disposition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Correct, contain, return, suspend, inform or accept by authorised concession.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Reverify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After correction, demonstrate conformity before release.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Nonconforming outputs and immediate control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one nonconforming output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 affected population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concession authority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customer notification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Containment is not corrective action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Rework can introduce new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Concession cannot override law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Service nonconformity also needs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well-formed nonconformity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Requirement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the exact applicable criterion and its intent.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Cite traceable facts, samples, dates and identifiers.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how the evidence does not fulfil the requirement.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Significance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the organisation's classification method consistently.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well-formed nonconformity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neutral language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Keep causes out of the finding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Make traceability reproducible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Agree factual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Vague words weaken action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Opinion is not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One issue should not become many duplicate findings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Auditors should not prescribe the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Correction, cause and corrective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Eliminate a detected nonconformity or control its immediate effect.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Cause analysis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why the system allowed the issue to occur or escape.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Corrective 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Eliminate or control verified causes to prevent recurrence.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System update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Revise risks, processes and QMS arrangements where needed.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Correction, cause and corrective action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Protect the customer first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evidence to test causes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Address contributing conditions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Assign accountable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Operator error is rarely a sufficient cause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Training is not always corrective action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Long action lists may dilute accountability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Symptoms can recur through another pathway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Root-cause analysis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5 Whys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Explore causal chains beyond the immediate event.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Fishbone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Consider method, people, technology, information, environment and management.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Timeline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Reconstruct events, decisions and control 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Cause validation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Look for evidence that the proposed cause explains the failure mechanism.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Root-cause analysis tools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a cross-functional team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Separate root and contributing causes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alternative explanations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evidence gaps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Stopping at the fifth why is arbitrary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Brainstormed causes are not facts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Blame narrows analysis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Complex issues can have interacting causes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Risk-based improvement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Consequence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Consider customer, safety, legal, delivery, cost and reputation effects.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Likelihood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history, exposure, complexity, change and control reliability.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 effectiveness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Account for prevention, detection and response capability.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Feasibility/value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Balance urgency, dependency, resource and expected benefit.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Risk-based improvement priorities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Address immediate unacceptable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transparent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Link action to strategic objectives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Monitor residual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score does not replace judgement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Severity and priority are different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Easy actions can crowd out important work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Risk acceptance needs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Corrective-action plan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Specific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 the change, affected process and required result.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Owned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Assign one accountable owner with necessary authority and resources.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realistic due dates, milestones and escalation.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Define completion records and effectiveness acceptance criteria.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Corrective-action plan quality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unintended consequences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Coordinate dependent actions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Control document changes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Communicate affected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Completion is not effectiveness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Overdue extensions need rationale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Action owners cannot be groups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Closing before data matures creates false assurance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Verifying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Implementation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approved action was completed as intended.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Test whether the cause is controlled and recurrence risk reduced.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 defined period, population and selection appropriate to risk.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Close, extend, reopen, escalate or raise a new finding based on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Verifying effectiveness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leading and lagging measures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Check related processes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 no adverse effects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Retain closure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 recurrence in a short period may mean no exposure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Self-certification can lack independence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changed procedure may not be deployed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Metrics need stable 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K3 · A3 · LO3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reporting and management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Complete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audit, scope, criteria, team, dates, coverage and deviations.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Accurate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Present findings and evidence without distortion or ambiguity.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Concise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Give management a clear line from assurance to priority action.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Controlled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Protect confidentiality, approve distribution and retain records.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 reporting and management action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Balance strengths and gaps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State sample limitations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Prioritise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Track response and follow-up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Executive summaries should not hide detail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Surprises at closing meetings erode trust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approval cannot rewrite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Distribution should follow need-to-know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Risk Mitigation and Improvement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Evaluate Evidence and Write Audit Findings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K2 · K3 · A2 · LO2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 Root-Cause and Corrective-Action Plan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K3 · A3 · LO3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75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procedure in LG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Workbook and PDF pack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Evidence-based acceptance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K3 · A2 · LO2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Evidence and Write Audit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examine a mixed evidence pack from MPS, decide whether each issue is conformity, nonconformity or an opportunity for improvement, and write evidence-based findings.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findings log containing criterion, objective evidence, statement of gap, risk significance and follow-up need.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Evidence-pack PDF · findings workbook · finding-quality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Evidence and Write Audit Findings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each evidence card and record only the facts that can be 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Link each evidence item to the relevant process control and requ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Classify the provisional outcome as conformity, possible nonconf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 each possible nonconformity, identify what additional eviden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Write confirmed findings using four elements: requirement, objec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Evaluate Evidence and Write Audit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nonconformity identifies a requirement and verifiable evidence; no finding contains an unproven cause or a mandatory solution; insufficient evidence is explicitly flagged.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K3 · A3 · LO3 · 75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Root-Cause and Corrective-Action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take one confirmed MPS nonconformity through containment, cause analysis, corrective-action design, ownership, due dates and effectiveness verification.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 corrective-action record with containment, cause evidence, actions, risk review and effectiveness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Corrective-action workbook · 5 Whys/fishbone prompts · printable CAPA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Root-Cause and Corrective-Action Plan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Restate the nonconformity and identify the affected outputs, 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immediate correction and containment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Map the event timeline from receipt of the revised drawing to 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Use 5 Whys or fishbone categories to generate possible causes 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each possible cause against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 Root-Cause and Corrective-Action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plan distinguishes correction from corrective action, validates causes with evidence, assigns accountable actions and defines an objective effectiveness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K3 · A3 · LO3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Risk Mitigation and Improvement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Prevent unintended use or delivery of nonconforming outputs and deal with consequences.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 sampled evidence, identify compliance gaps and write precise, traceable findings.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Propose risk-based corrective actions that address verified causes and include effectiveness measures.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Adherence to Compliance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Obligations · change control · procedure updates · follow-up and continual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Topic 04 · Core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Obligations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Maintain a controlled view of customer, statutory, regulatory and internal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Assess impact before changing audit criteria, tools, sampling, competence or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Deployment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Update procedures, brief auditors, manage versions and validate the revised method.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Follow-up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Verify implementation and effectiveness, retain evidence and feed lessons into the audit programme.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obligations and audit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External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Applicable statutory, regulatory, licence, contract and customer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Internal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Policies, procedures, specifications, objectives and control commitments.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Standards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Current adopted editions, amendments and sector-specific requirements.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Applicability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Evidence-based decision on which obligations affect which processes.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Compliance obligations and audit criteria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Maintain a requirements register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Assign monitoring owners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Trace changes into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operational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legal register may be incomplete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Customer requirements can change faster than standards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Certification scope may not cover all operations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Internal commitments are still audit criteria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change triggers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Standards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New editions, amendments, interpretations and transition 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Regulation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New laws, licences, regulator guidance and enforcement expectations.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Business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New products, markets, suppliers, technology, locations or organisation 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Performance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Complaints, incidents, audit trends and ineffective actions.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Monitoring change triggers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authoritative sources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publication/effective dates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 relevance promptly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Escalate urgent obligations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News alerts are not authoritative 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Publication and effective dates differ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No-change decisions need evidence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Local changes can be more important than external 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Change-impact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Criteria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Determine what requirements and audit references change.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Method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Assess effects on programme, plan, sampling, evidence and reporting.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People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competence, awareness and assignment impacts.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Technology/records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Review access, data integrity, cybersecurity, confidentiality and retention.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Change-impact assessment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Map affected artefacts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Assess transition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Define owners and deadlines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Plan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Template changes alone do not deploy behaviour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Digital tools add confidentiality risk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Parallel versions confuse auditors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Emergency changes still need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Controlled procedure revision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Draft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Translate the change into clear, usable method and responsibilities.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Review/approve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competent authority and resolve interface impacts.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Release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version, effective date, access and withdrawn copies.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Deploy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Communicate, train, configure tools and retain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Controlled procedure revision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Pilot high-impact changes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Brief process owners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Update working documents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access to current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Emailing a procedure is not awareness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Training attendance is not competence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Old local copies can survive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Uncontrolled forms undermine traceability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Remote and technology-enabled auditing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Feasibility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connectivity, access, identity, evidence availability and cooperation.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Protect confidential information, recordings, transfer and storage.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Authenticity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Confirm the source and context of screen-shared or exported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Coverage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Decide which objectives require physical observation or on-site access.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Remote and technology-enabled auditing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Test tools before the audit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secure transfer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limitations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Plan technical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Remote does not mean lower rigour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Screens can hide surrounding context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Recording may require consent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Virtual locations belong in scope when relevant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Auditor competence through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Knowledge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Understand applicable standards, process, sector and obligations.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Plan, interview, sample, analyse, use technology and communicate.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Behaviour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Demonstrate ethics, observation, adaptability and sound judgement.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Evaluation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witnessed audits, records, feedback and continuing development.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Auditor competence through change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Update competence criteria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technical experts selectively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Witness revised methods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development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Years of experience alone are insufficient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Certification may not cover sector context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Tool fluency does not prove judgement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Competence must match assigned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Follow-up audit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Completion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Was each action implemented and supported by controlled evidence?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Effectiveness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Did the action reduce recurrence risk and achieve the intended result?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Sufficiency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Is the sample and elapsed time enough for a reliable decision?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Escalation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What happens if action is late, ineffective or creates a new risk?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Follow-up audit decisions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Plan proportionate follow-up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Sample affected outputs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trend data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closure rationale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Desk review may miss operational failure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Closure dates should not drive weak decisions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Repeat findings indicate system weakness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Escalation should be pre-defined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K4 · A4 · LO4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Continual improvement of the audit programme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Performance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 delivery, coverage, timeliness, recurrence and stakeholder usefulness.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Feedback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auditor, auditee and management insight without compromising independence.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 calibration, complaints, missed risks and technology experience.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Revise priorities, methods, competence and resources through PDCA.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APPLICATION AND JUDGEMENT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Continual improvement of the audit programme · Auditor 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Apply in the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Avoid the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Review programme KPIs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Analyse systemic trends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Share lessons across teams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Report improvement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More findings do not mean better audits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Satisfaction alone does not prove rigour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Repeated templates can fossilise thinking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Improvement actions need effectiveness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PRACTICE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Activities · Adherence to Compliance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Activity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Present an Audit Report and Improvement Priorities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K2 · K4 · A3 · LO3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Activity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Update Audit Procedures and Verify Follow-Up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K4 · A4 · LO4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60 minutes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Detailed procedure in LG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Workbook and PDF pack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Evidence-based acceptance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K2 · K4 · A3 · LO3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Present an Audit Report and Improvement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consolidate MPS audit evidence into an executive-ready report and closing-meeting briefing that is accurate, concise, balanced and actionable.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audit report, improvement-priority matrix and five-minute closing-meeting briefing.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Audit-report workbook · closing-meeting checklist · presentation cue 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Present an Audit Report and Improvement Priorities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Confirm the audit objectives, scope, criteria, dates, team and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Summarise the process coverage and sample limitations so readers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Consolidate conformities, nonconformities and opportunities for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Write an audit conclusion that answers the audit objectives with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Prioritise improvement opportunities using risk, customer impact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Present an Audit Report and Improvement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report is complete, traceable and balanced; conclusions stay within scope; priorities have a transparent rationale; follow-up responsibilities and dates are clear.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K4 · A4 · LO4 · 60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Update Audit Procedures and Verify Follow-Up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Learners respond to three change triggers, update the MPS audit method, plan auditor deployment and conduct a follow-up review of the drawing-control corrective action.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change-impact assessment, revised audit-procedure plan, competence/communication plan and follow-up verification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Change-control workbook · procedure-change checklist PDF · follow-up evidence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Update Audit Procedures and Verify Follow-Up ·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Log each change trigger with its source, effective date, owner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 impact on audit objectives, criteria, programme, plan, wo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Prioritise the changes by compliance urgency, risk and operation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the required procedure revisions and identify the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Assign approval, version control, communication, training and sy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ACCEPTANCE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Update Audit Procedures and Verify Follow-Up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change has an applicability decision and controlled implementation path; the follow-up decision is based on evidence of both completion and effectiveness.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K4 · A4 · LO4 · TOPIC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· Adherence to Compliance Standards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Maintain a controlled view of customer, statutory, regulatory and internal requirements.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Apply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Communicate balanced audit conclusions and propose practical improvements that address priority risks.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Demonstrate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Implement controlled changes to audit procedures and verify corrective-action effectiveness after standards, regulations or internal controls change.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Retain the completed activity artefacts and review feedback.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From Audit Plan to Verified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Conduct ISO 9001 internal audit activities using appropriate methodologies and tools to ensure organisational compliance.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 audit findings to identify process inefficiencies, non-compliance issues and areas for improvement.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Propose actionable improvement plans to mitigate identified risks and non-compliance issues.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Implement updated audit procedures following changes in internal compliance standards or external regulatory guidelines.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END-TO-END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Internal Audit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programme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 and prepare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Collect and evaluate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Report and 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effectiveness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Download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Get the learner slides PDF and Learner Guide.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Activities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the complete Activities folder and working files.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WA and Case Study during the scheduled window.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completed answers and confirm successful submission.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K1-K4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1 hour ·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4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A1-A4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1 hour ·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Assessment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Submit on LMS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Sign summary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every required SSG digital-attendance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SSG QR code shown by the trainer or administrator.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Confirm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Wait for the successful submission acknowledgement.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Eligibility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is required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Audit for confidence, not paperwork.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evidence to help the organisation protect conformity, improve performance and learn.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ISO 9001 QMS Internal Auditor Training  ·  TGS-2023039341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pic>
        <p:nvPicPr>
          <p:cNvPr id="40" name="Picture 39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04" y="1851660"/>
            <a:ext cx="7967686" cy="396392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